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1"/>
  </p:notesMasterIdLst>
  <p:sldIdLst>
    <p:sldId id="444" r:id="rId2"/>
    <p:sldId id="425" r:id="rId3"/>
    <p:sldId id="426" r:id="rId4"/>
    <p:sldId id="455" r:id="rId5"/>
    <p:sldId id="404" r:id="rId6"/>
    <p:sldId id="454" r:id="rId7"/>
    <p:sldId id="407" r:id="rId8"/>
    <p:sldId id="428" r:id="rId9"/>
    <p:sldId id="448" r:id="rId10"/>
    <p:sldId id="449" r:id="rId11"/>
    <p:sldId id="415" r:id="rId12"/>
    <p:sldId id="446" r:id="rId13"/>
    <p:sldId id="443" r:id="rId14"/>
    <p:sldId id="450" r:id="rId15"/>
    <p:sldId id="451" r:id="rId16"/>
    <p:sldId id="452" r:id="rId17"/>
    <p:sldId id="445" r:id="rId18"/>
    <p:sldId id="405" r:id="rId19"/>
    <p:sldId id="440" r:id="rId20"/>
    <p:sldId id="441" r:id="rId21"/>
    <p:sldId id="453" r:id="rId22"/>
    <p:sldId id="414" r:id="rId23"/>
    <p:sldId id="459" r:id="rId24"/>
    <p:sldId id="456" r:id="rId25"/>
    <p:sldId id="435" r:id="rId26"/>
    <p:sldId id="457" r:id="rId27"/>
    <p:sldId id="436" r:id="rId28"/>
    <p:sldId id="458" r:id="rId29"/>
    <p:sldId id="465" r:id="rId30"/>
    <p:sldId id="460" r:id="rId31"/>
    <p:sldId id="461" r:id="rId32"/>
    <p:sldId id="462" r:id="rId33"/>
    <p:sldId id="463" r:id="rId34"/>
    <p:sldId id="464" r:id="rId35"/>
    <p:sldId id="466" r:id="rId36"/>
    <p:sldId id="467" r:id="rId37"/>
    <p:sldId id="468" r:id="rId38"/>
    <p:sldId id="469" r:id="rId39"/>
    <p:sldId id="470" r:id="rId40"/>
  </p:sldIdLst>
  <p:sldSz cx="18288000" cy="10287000"/>
  <p:notesSz cx="6858000" cy="9144000"/>
  <p:embeddedFontLst>
    <p:embeddedFont>
      <p:font typeface="Consolas" panose="020B0609020204030204" pitchFamily="49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684158-E8C8-9BE0-21EB-718D906F94A5}" name="George Mount" initials="GM" userId="S::george@stringfestanalytics.com::22d0b802-afc6-4b8f-ba57-7a855d9692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orge Mount" initials="GM" lastIdx="9" clrIdx="0">
    <p:extLst>
      <p:ext uri="{19B8F6BF-5375-455C-9EA6-DF929625EA0E}">
        <p15:presenceInfo xmlns:p15="http://schemas.microsoft.com/office/powerpoint/2012/main" userId="57d2ab2a84d54c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3338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FE45DF-55D5-405D-A565-885B46CD6B1C}" v="18" dt="2025-10-20T17:24:06.950"/>
    <p1510:client id="{FF0EED0B-C5B4-4142-B053-6337C3D566F0}" v="5" dt="2025-10-20T16:58:00.7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78463" autoAdjust="0"/>
  </p:normalViewPr>
  <p:slideViewPr>
    <p:cSldViewPr>
      <p:cViewPr varScale="1">
        <p:scale>
          <a:sx n="31" d="100"/>
          <a:sy n="31" d="100"/>
        </p:scale>
        <p:origin x="75" y="6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98A70-FA8C-4354-959C-C70678AC9BC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500C5-13F7-48FC-8160-C29AECF6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5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49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29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5532-326F-4669-1CB2-DA7AFD783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669E7-8D85-DEB6-7D4D-FA8E8268D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F375F-294F-03AB-52EE-36A85AF9F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7E0FB-DBB2-3D20-1323-ADC2F3DB1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505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FC076-F88C-C536-9238-75E3BF14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A8E3C-F515-FFFD-B292-B0B1EAFC8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DD28B-5E01-0EF6-4120-6C8E9956B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17D3B-B2AF-6207-719E-A174D6834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36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6AC54-6E30-B132-36FA-F5D0973D5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09738-8518-D51E-6D96-DAD7B61DC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1F2E3-17FA-59F4-F7EE-A9B546865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1DF5F-83DC-5C93-D7B5-93155F59B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4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B6049-5928-8065-DC2A-FC299B7C4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C0C57-AD83-983B-DED0-447710D58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32239-97F3-778C-24C8-9BC6C7AB5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3D4B1-A0AC-07B2-C4EE-EE617B1AB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87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45E6-CE7E-2487-A482-590748D55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565A5-C4C5-B4A3-E708-957B84B00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AD896-08FE-5715-6C86-75CB24BC7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0BFCF-D905-022B-788E-7C8BB191D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43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D0BB0-C27F-4394-84BC-879603FE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D3BEAE-D2CD-A88A-3703-056E92BB0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D8528-51B2-8AAF-A9AB-FE9AD8BC6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3C92-7067-3C07-DF64-C45CF1BBC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44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3F2FE-DC3D-7A1A-4ACD-14EA94BE1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0B78E-1964-06AA-D0C2-ADA2C8DBD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7BBC2-4126-39AC-7EAC-8183927C6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5E90F-7E93-3536-F365-576D07409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3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1485F-A7CF-3E32-E2BB-FEE0B86F7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25F72-8E06-E4B8-08D5-9FD3C0962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1F42F-A3BB-8C6C-C1FF-5D2629FC5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82AC1-96FC-37CF-5AF0-FEB93E097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282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AF1D4-B80A-3C59-CC31-B3357DA91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DC3C8-8914-8EFE-3032-BE4E8C4E9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EE7CB-F846-BADE-45D3-2CBC0F1D9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08C67-BCF8-1E3D-6BE1-0AC78FFD6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23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017D-E5D7-97C7-031F-443D49081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1095C-0A5C-7E2B-51A8-B22453EFF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CF33D-C549-8AE4-8A27-1830BD0C6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EAFF3-AE43-8989-34FB-BF5295BDF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346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49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7FECE-35C8-2280-2CF9-9A5B7ABD9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A516F-55A2-FF7F-3973-4C55F68AC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C3095-AF81-42F2-90C1-47B8D0EC4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BACF5-7DF6-0128-0C59-D49773290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0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298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27428-6FC2-A027-32B1-DB84A3E8F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A4E1A-74A6-A7D3-C5A0-389364C0D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2E65A-B376-8DBB-656F-98973EABE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90908-5AEE-5D1B-AF9B-6D6186D5D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812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49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298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5532-326F-4669-1CB2-DA7AFD783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669E7-8D85-DEB6-7D4D-FA8E8268D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F375F-294F-03AB-52EE-36A85AF9F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7E0FB-DBB2-3D20-1323-ADC2F3DB1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5058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948FC-8E31-57A5-1572-2BD51435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FBA2C-8C25-ED84-25F8-72C4EE974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7E3F8-F267-4C16-DA32-D9FBC5B29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17B97-59E7-F89F-5A8E-93001789E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294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4B1B5-A60D-967D-49BC-6F3ABD430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92654-5E87-00BA-6746-303D497ED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C1A70-63B8-CA42-42BB-70F21EDD7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5ACB8-FCC1-D3E3-8AE3-DDDF3FBF4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192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922F-4D0C-FB0E-32E5-172A5986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B9C3A-8509-54EA-8FA2-BFA67CBA7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329DD-8152-B357-9A41-482E5FC28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02883-B11C-62B3-DBFD-84BF6D74E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37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stringfestdata/gxls-power-platform/archive/refs/heads/main.zip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EB9D66-9CB4-B474-27D6-F594F19E2A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578B23-3522-A45E-113D-CFC55209E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598656"/>
            <a:ext cx="13716000" cy="3581400"/>
          </a:xfrm>
        </p:spPr>
        <p:txBody>
          <a:bodyPr>
            <a:normAutofit fontScale="90000"/>
          </a:bodyPr>
          <a:lstStyle/>
          <a:p>
            <a:r>
              <a:rPr lang="en-US" sz="9900" b="1" dirty="0">
                <a:solidFill>
                  <a:srgbClr val="241F62"/>
                </a:solidFill>
                <a:latin typeface="+mn-lt"/>
              </a:rPr>
              <a:t>Becoming a Citizen Developer with the Power Platform</a:t>
            </a:r>
            <a:endParaRPr lang="en-BG" sz="9900" b="1" dirty="0">
              <a:solidFill>
                <a:srgbClr val="241F62"/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DADD3B-A58B-45A3-D5DF-D99E4EB05D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069"/>
          <a:stretch/>
        </p:blipFill>
        <p:spPr>
          <a:xfrm>
            <a:off x="8153400" y="8430867"/>
            <a:ext cx="1981200" cy="97983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1C8D1E5-24B9-FEAC-440F-B059007D73CE}"/>
              </a:ext>
            </a:extLst>
          </p:cNvPr>
          <p:cNvSpPr txBox="1">
            <a:spLocks/>
          </p:cNvSpPr>
          <p:nvPr/>
        </p:nvSpPr>
        <p:spPr>
          <a:xfrm>
            <a:off x="13454742" y="548858"/>
            <a:ext cx="4082145" cy="945771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sz="4200" dirty="0">
                <a:solidFill>
                  <a:srgbClr val="241F62"/>
                </a:solidFill>
                <a:latin typeface="+mj-lt"/>
              </a:rPr>
              <a:t>George Mount</a:t>
            </a:r>
            <a:endParaRPr lang="en-BG" sz="4200" dirty="0">
              <a:solidFill>
                <a:srgbClr val="241F6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7564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Hi, I’m George</a:t>
            </a:r>
          </a:p>
        </p:txBody>
      </p:sp>
      <p:pic>
        <p:nvPicPr>
          <p:cNvPr id="3" name="Picture 4" descr="Advancing into Analytics Cover Image">
            <a:extLst>
              <a:ext uri="{FF2B5EF4-FFF2-40B4-BE49-F238E27FC236}">
                <a16:creationId xmlns:a16="http://schemas.microsoft.com/office/drawing/2014/main" id="{588F684B-18EF-D76C-5F7B-15E4BAD60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7075" y="195640"/>
            <a:ext cx="3130385" cy="408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Free photos of Cleveland">
            <a:extLst>
              <a:ext uri="{FF2B5EF4-FFF2-40B4-BE49-F238E27FC236}">
                <a16:creationId xmlns:a16="http://schemas.microsoft.com/office/drawing/2014/main" id="{CBA53EEE-E3E1-D99E-A4DC-1C4DD2E6C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692" y="2968810"/>
            <a:ext cx="5535359" cy="368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7E0F267-87DF-961E-1FAA-47FD4F27A5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691" y="6002696"/>
            <a:ext cx="7448309" cy="5462681"/>
          </a:xfrm>
          <a:prstGeom prst="rect">
            <a:avLst/>
          </a:prstGeom>
        </p:spPr>
      </p:pic>
      <p:pic>
        <p:nvPicPr>
          <p:cNvPr id="1026" name="Picture 2" descr="Modern data analytics in Excel book cover">
            <a:extLst>
              <a:ext uri="{FF2B5EF4-FFF2-40B4-BE49-F238E27FC236}">
                <a16:creationId xmlns:a16="http://schemas.microsoft.com/office/drawing/2014/main" id="{874ADA5E-A7A7-1D02-C728-513187DE1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1136" y="2210054"/>
            <a:ext cx="3437261" cy="450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icrosoft Most Valuable Professional - Wikipedia">
            <a:extLst>
              <a:ext uri="{FF2B5EF4-FFF2-40B4-BE49-F238E27FC236}">
                <a16:creationId xmlns:a16="http://schemas.microsoft.com/office/drawing/2014/main" id="{36C71929-5967-B93D-05FE-E330D621C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42" y="7832951"/>
            <a:ext cx="5057775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2901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Objectives for this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628900"/>
            <a:ext cx="162306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707070"/>
                </a:solidFill>
                <a:latin typeface="Pragmatica" panose="020B0403040502020204" pitchFamily="34" charset="0"/>
              </a:rPr>
              <a:t>Understand how Excel connects with Power Automate, Power Apps, Power BI, and Copilot Studio to create end-to-end workflows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707070"/>
                </a:solidFill>
                <a:latin typeface="Pragmatica" panose="020B0403040502020204" pitchFamily="34" charset="0"/>
              </a:rPr>
              <a:t>Build trigger-based flows to automate common Excel tasks and send real-time notifications through Teams or Outlook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707070"/>
                </a:solidFill>
                <a:latin typeface="Pragmatica" panose="020B0403040502020204" pitchFamily="34" charset="0"/>
              </a:rPr>
              <a:t>Create low-code dashboards and apps that update automatically and streamline reporting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707070"/>
                </a:solidFill>
                <a:latin typeface="Pragmatica" panose="020B0403040502020204" pitchFamily="34" charset="0"/>
              </a:rPr>
              <a:t>Use Copilot Studio and Power </a:t>
            </a:r>
            <a:r>
              <a:rPr lang="en-US" sz="4800" dirty="0" err="1">
                <a:solidFill>
                  <a:srgbClr val="707070"/>
                </a:solidFill>
                <a:latin typeface="Pragmatica" panose="020B0403040502020204" pitchFamily="34" charset="0"/>
              </a:rPr>
              <a:t>Fx</a:t>
            </a:r>
            <a:r>
              <a:rPr lang="en-US" sz="4800" dirty="0">
                <a:solidFill>
                  <a:srgbClr val="707070"/>
                </a:solidFill>
                <a:latin typeface="Pragmatica" panose="020B0403040502020204" pitchFamily="34" charset="0"/>
              </a:rPr>
              <a:t> to add natural language automation and chatbot capabilities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7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697A-2DDC-AD06-0D5F-524946CCF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E25D70B-1F78-7AF8-4771-7B64B436CB0F}"/>
              </a:ext>
            </a:extLst>
          </p:cNvPr>
          <p:cNvSpPr txBox="1"/>
          <p:nvPr/>
        </p:nvSpPr>
        <p:spPr>
          <a:xfrm>
            <a:off x="520861" y="170082"/>
            <a:ext cx="146429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>
                <a:latin typeface="Aliens &amp; cows" panose="00000500000000000000" pitchFamily="2" charset="0"/>
              </a:rPr>
              <a:t>Resources</a:t>
            </a:r>
            <a:endParaRPr lang="en-US" sz="9000" dirty="0">
              <a:latin typeface="Aliens &amp; cow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5976A-E96C-DF78-2D1D-42CD64D3E69F}"/>
              </a:ext>
            </a:extLst>
          </p:cNvPr>
          <p:cNvSpPr txBox="1"/>
          <p:nvPr/>
        </p:nvSpPr>
        <p:spPr>
          <a:xfrm>
            <a:off x="520861" y="3191948"/>
            <a:ext cx="143931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Download at </a:t>
            </a: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  <a:hlinkClick r:id="rId2"/>
              </a:rPr>
              <a:t>https://github.com/stringfestdata/gxls-power-platform/archive/refs/heads/main.zip</a:t>
            </a: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 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56BC9DC3-5856-1F48-F0BE-E6FB58953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85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Automating tasks with Power Automate</a:t>
            </a:r>
          </a:p>
        </p:txBody>
      </p:sp>
    </p:spTree>
    <p:extLst>
      <p:ext uri="{BB962C8B-B14F-4D97-AF65-F5344CB8AC3E}">
        <p14:creationId xmlns:p14="http://schemas.microsoft.com/office/powerpoint/2010/main" val="3953945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80662-9653-46D1-18E1-A94E037F6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0B40A9-680B-1CE1-2110-18219303521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2F02D3-A2CA-3B78-B318-A27E726D8AF2}"/>
              </a:ext>
            </a:extLst>
          </p:cNvPr>
          <p:cNvSpPr txBox="1"/>
          <p:nvPr/>
        </p:nvSpPr>
        <p:spPr>
          <a:xfrm>
            <a:off x="781292" y="590309"/>
            <a:ext cx="154869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First steps with Power Automate</a:t>
            </a:r>
          </a:p>
        </p:txBody>
      </p:sp>
    </p:spTree>
    <p:extLst>
      <p:ext uri="{BB962C8B-B14F-4D97-AF65-F5344CB8AC3E}">
        <p14:creationId xmlns:p14="http://schemas.microsoft.com/office/powerpoint/2010/main" val="2076578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4881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First flow with Power Automate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Power Automate templates for Excel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Create clock in/clock out workflow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first-flow.xlsx</a:t>
            </a:r>
          </a:p>
        </p:txBody>
      </p:sp>
    </p:spTree>
    <p:extLst>
      <p:ext uri="{BB962C8B-B14F-4D97-AF65-F5344CB8AC3E}">
        <p14:creationId xmlns:p14="http://schemas.microsoft.com/office/powerpoint/2010/main" val="3871531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7148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Customizing outputs with Power </a:t>
            </a:r>
            <a:r>
              <a:rPr lang="en-US" sz="6000" b="1" dirty="0" err="1">
                <a:solidFill>
                  <a:srgbClr val="CF3338"/>
                </a:solidFill>
                <a:latin typeface="Pragmatica" panose="020B0403040502020204" pitchFamily="34" charset="0"/>
              </a:rPr>
              <a:t>Fx</a:t>
            </a:r>
            <a:endParaRPr lang="en-US" sz="6000" b="1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600" kern="100" dirty="0">
                <a:solidFill>
                  <a:srgbClr val="CF3338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Continue with the previous example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600" kern="100" dirty="0">
                <a:solidFill>
                  <a:srgbClr val="CF3338"/>
                </a:solidFill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How can we improve appearance of outputs in Excel? </a:t>
            </a:r>
            <a:endParaRPr lang="en-US" sz="3600" kern="100" dirty="0">
              <a:solidFill>
                <a:srgbClr val="CF3338"/>
              </a:solidFill>
              <a:effectLst/>
              <a:latin typeface="Pragmatica" panose="020B04030405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Resource: https://stringfestanalytics.com/power-automate-for-excel-how-to-understand-the-power-fx-programming-language/</a:t>
            </a:r>
            <a:endParaRPr lang="en-US" sz="3600" dirty="0">
              <a:solidFill>
                <a:srgbClr val="CF3338"/>
              </a:solidFill>
              <a:latin typeface="Pragmatica" panose="020B04030405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79221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679BB-E487-A9E3-1278-DBD7FB7F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8E3D40-A823-8428-6682-B724027EAF41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24E154-15C4-0B23-E9C5-29E2DD4973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343823-9545-2632-2777-4994B59C3581}"/>
              </a:ext>
            </a:extLst>
          </p:cNvPr>
          <p:cNvSpPr txBox="1"/>
          <p:nvPr/>
        </p:nvSpPr>
        <p:spPr>
          <a:xfrm>
            <a:off x="260431" y="329879"/>
            <a:ext cx="8906720" cy="6791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Building flows with Copilot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400" kern="100" dirty="0">
                <a:solidFill>
                  <a:srgbClr val="CF3338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Get AI assistance to build a flow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400" kern="100" dirty="0">
                <a:solidFill>
                  <a:srgbClr val="CF3338"/>
                </a:solidFill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Create a monthly email/post to Teams based on data in a workbook</a:t>
            </a:r>
            <a:endParaRPr lang="en-US" sz="3400" kern="100" dirty="0">
              <a:solidFill>
                <a:srgbClr val="CF3338"/>
              </a:solidFill>
              <a:effectLst/>
              <a:latin typeface="Pragmatica" panose="020B04030405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4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power-automate-copilot.xlsx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Resource: https://stringfestanalytics.com/power-automate-for-excel-how-to-build-flows-with-copilot/</a:t>
            </a:r>
            <a:endParaRPr lang="en-US" sz="3400" dirty="0">
              <a:solidFill>
                <a:srgbClr val="CF3338"/>
              </a:solidFill>
              <a:latin typeface="Pragmatica" panose="020B04030405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45953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FB3F1-9316-2257-E940-CBECFDC9B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03994C-F67D-0DD9-CFFA-2B29D24922FF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02452F-BF97-A300-6ACF-A7726E5CE1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7EA42E-C722-4BC7-43F5-90F39EAD6D3B}"/>
              </a:ext>
            </a:extLst>
          </p:cNvPr>
          <p:cNvSpPr txBox="1"/>
          <p:nvPr/>
        </p:nvSpPr>
        <p:spPr>
          <a:xfrm>
            <a:off x="260431" y="329879"/>
            <a:ext cx="8906720" cy="7967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Exercises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F3338"/>
                </a:solidFill>
                <a:latin typeface="Pragmatica" panose="020B0403040502020204" pitchFamily="34" charset="0"/>
              </a:rPr>
              <a:t>Build on the clock in/clock out workflow</a:t>
            </a:r>
          </a:p>
          <a:p>
            <a:endParaRPr lang="en-US" sz="3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F3338"/>
                </a:solidFill>
                <a:latin typeface="Pragmatica" panose="020B0403040502020204" pitchFamily="34" charset="0"/>
              </a:rPr>
              <a:t>Task: Modify the flow to prompt users for comments when clocking in or out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F3338"/>
                </a:solidFill>
                <a:latin typeface="Pragmatica" panose="020B0403040502020204" pitchFamily="34" charset="0"/>
              </a:rPr>
              <a:t>Add the comment prompt where the in/out criteria is built with a yes/no checkbox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F3338"/>
                </a:solidFill>
                <a:latin typeface="Pragmatica" panose="020B0403040502020204" pitchFamily="34" charset="0"/>
              </a:rPr>
              <a:t>Save the clock in/out data, including comments, to the worksheet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F3338"/>
                </a:solidFill>
                <a:latin typeface="Pragmatica" panose="020B0403040502020204" pitchFamily="34" charset="0"/>
              </a:rPr>
              <a:t>Post an update to Teams with details (who clocked in/out, time, and comments)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endParaRPr lang="en-US" sz="3200" dirty="0">
              <a:solidFill>
                <a:srgbClr val="C00000"/>
              </a:solidFill>
              <a:latin typeface="Pragmatica" panose="020B0403040502020204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2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first-steps-exercises.xlsx</a:t>
            </a:r>
          </a:p>
        </p:txBody>
      </p:sp>
    </p:spTree>
    <p:extLst>
      <p:ext uri="{BB962C8B-B14F-4D97-AF65-F5344CB8AC3E}">
        <p14:creationId xmlns:p14="http://schemas.microsoft.com/office/powerpoint/2010/main" val="2556979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60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D1E89-DF85-2717-CB7C-611205BA0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AE8890-A125-C1F7-E345-728BA6EE9AB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7C76E-07A8-E205-B090-2AB80EB3A153}"/>
              </a:ext>
            </a:extLst>
          </p:cNvPr>
          <p:cNvSpPr txBox="1"/>
          <p:nvPr/>
        </p:nvSpPr>
        <p:spPr>
          <a:xfrm>
            <a:off x="781292" y="590309"/>
            <a:ext cx="154869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Building and managing Excel-related flows</a:t>
            </a:r>
          </a:p>
        </p:txBody>
      </p:sp>
    </p:spTree>
    <p:extLst>
      <p:ext uri="{BB962C8B-B14F-4D97-AF65-F5344CB8AC3E}">
        <p14:creationId xmlns:p14="http://schemas.microsoft.com/office/powerpoint/2010/main" val="3139197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8EB55-91D6-C27F-AAC1-D5B7022AE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8F5155-AC67-B1E7-07B3-815AE617ACA4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26B147-5BD3-802B-DA2F-1AAEA90042A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986F1D-83FB-8CDB-184F-AB36F8D41632}"/>
              </a:ext>
            </a:extLst>
          </p:cNvPr>
          <p:cNvSpPr txBox="1"/>
          <p:nvPr/>
        </p:nvSpPr>
        <p:spPr>
          <a:xfrm>
            <a:off x="260431" y="329879"/>
            <a:ext cx="8906720" cy="7668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Automating Excel entry with Power Automate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endParaRPr lang="en-US" sz="4200" dirty="0">
              <a:solidFill>
                <a:srgbClr val="CF3338"/>
              </a:solidFill>
              <a:latin typeface="Pragmatica" panose="020B0403040502020204" pitchFamily="34" charset="0"/>
              <a:sym typeface="Consolas"/>
            </a:endParaRP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Add summary of all incoming manager’s emails into a workbook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automate-excel-entry.xlsx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Resource: </a:t>
            </a:r>
            <a:r>
              <a:rPr lang="en-US" sz="3600" dirty="0">
                <a:solidFill>
                  <a:srgbClr val="CF3338"/>
                </a:solidFill>
                <a:latin typeface="Pragmatica" panose="020B0403040502020204"/>
                <a:sym typeface="Consolas"/>
              </a:rPr>
              <a:t>https://stringfestanalytics.com/how-to-track-incoming-emails-in-excel-with-power-automate/</a:t>
            </a:r>
            <a:endParaRPr lang="en-US" sz="60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074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E25C6-D9BE-ACB3-A9D8-1E3F5AED9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B2C0CB-609C-3DDF-0D6F-F0676C71A082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4709B4-D842-0E90-CD06-E3ECC159C0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B1D88B-224C-9AE6-5C78-176FD3CF957A}"/>
              </a:ext>
            </a:extLst>
          </p:cNvPr>
          <p:cNvSpPr txBox="1"/>
          <p:nvPr/>
        </p:nvSpPr>
        <p:spPr>
          <a:xfrm>
            <a:off x="260431" y="329879"/>
            <a:ext cx="8906720" cy="6886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Creating conditional flows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endParaRPr lang="en-US" sz="4200" dirty="0">
              <a:solidFill>
                <a:srgbClr val="CF3338"/>
              </a:solidFill>
              <a:latin typeface="Pragmatica" panose="020B0403040502020204" pitchFamily="34" charset="0"/>
              <a:sym typeface="Consolas"/>
            </a:endParaRP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Create emails </a:t>
            </a:r>
            <a:r>
              <a:rPr lang="en-US" sz="36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only 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when project is delayed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Test flow and put on schedule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conditional-logic.xlsx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Resource: </a:t>
            </a:r>
            <a:r>
              <a:rPr lang="en-US" sz="3600" dirty="0">
                <a:solidFill>
                  <a:srgbClr val="CF3338"/>
                </a:solidFill>
                <a:latin typeface="Pragmatica" panose="020B0403040502020204"/>
                <a:sym typeface="Consolas"/>
              </a:rPr>
              <a:t>https://stringfestanalytics.com/power-automate-for-excel-how-to-understand-conditional-flows/</a:t>
            </a:r>
            <a:endParaRPr lang="en-US" sz="60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009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5543C-FC2F-706C-0319-AF2E02C17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0E9BB0-DF62-7CD8-AD9E-9B07D47A3EA3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EAA4D7-8279-B257-6D3E-F96D319857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B1D248-3DA4-EF63-972E-3DC8117D97E9}"/>
              </a:ext>
            </a:extLst>
          </p:cNvPr>
          <p:cNvSpPr txBox="1"/>
          <p:nvPr/>
        </p:nvSpPr>
        <p:spPr>
          <a:xfrm>
            <a:off x="260431" y="329879"/>
            <a:ext cx="8906720" cy="7668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Office Scripts + Power Automate, part 1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endParaRPr lang="en-US" sz="4200" dirty="0">
              <a:solidFill>
                <a:srgbClr val="CF3338"/>
              </a:solidFill>
              <a:latin typeface="Pragmatica" panose="020B0403040502020204" pitchFamily="34" charset="0"/>
              <a:sym typeface="Consolas"/>
            </a:endParaRP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Run a TOC updater script on schedule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Files: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power-automate-office-scripts.xlsx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,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add-toc.txt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Resource: </a:t>
            </a:r>
            <a:r>
              <a:rPr lang="en-US" sz="3600" dirty="0">
                <a:solidFill>
                  <a:srgbClr val="CF3338"/>
                </a:solidFill>
                <a:latin typeface="Pragmatica" panose="020B0403040502020204"/>
                <a:sym typeface="Consolas"/>
              </a:rPr>
              <a:t>https://stringfestanalytics.com/how-to-get-started-with-power-automate-for-excel/</a:t>
            </a:r>
            <a:endParaRPr lang="en-US" sz="60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277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59BA-0C2F-2749-8CB4-7E6DE874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54C4F1-8816-5B7C-5A36-487DF1D2DC2B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D33BFB-92A5-B8BE-BE2A-90100EC88B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60F8A7-E120-24F7-0163-56AAE5565745}"/>
              </a:ext>
            </a:extLst>
          </p:cNvPr>
          <p:cNvSpPr txBox="1"/>
          <p:nvPr/>
        </p:nvSpPr>
        <p:spPr>
          <a:xfrm>
            <a:off x="260431" y="329879"/>
            <a:ext cx="8906720" cy="9084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Office Scripts + Power Automate, part 2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endParaRPr lang="en-US" sz="4200" dirty="0">
              <a:solidFill>
                <a:srgbClr val="CF3338"/>
              </a:solidFill>
              <a:latin typeface="Pragmatica" panose="020B0403040502020204" pitchFamily="34" charset="0"/>
              <a:sym typeface="Consolas"/>
            </a:endParaRP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How can we apply the same script to multiple workbooks? 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conditional logic to validate filetype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Folder: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multiple-workbooks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Resource: </a:t>
            </a:r>
            <a:r>
              <a:rPr lang="en-US" sz="3600" dirty="0">
                <a:solidFill>
                  <a:srgbClr val="CF3338"/>
                </a:solidFill>
                <a:latin typeface="Pragmatica" panose="020B0403040502020204"/>
                <a:sym typeface="Consolas"/>
              </a:rPr>
              <a:t>https://stringfestanalytics.com/how-to-run-an-office-script-on-all-excel-workbooks-in-a-folder-with-power-automate/</a:t>
            </a:r>
            <a:endParaRPr lang="en-US" sz="60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664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E2D92-E493-1DD9-72E6-ACC94BA7A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6F4AE9-80A1-26DB-FCA0-2CF02A251A93}"/>
              </a:ext>
            </a:extLst>
          </p:cNvPr>
          <p:cNvSpPr/>
          <p:nvPr/>
        </p:nvSpPr>
        <p:spPr>
          <a:xfrm>
            <a:off x="12954000" y="0"/>
            <a:ext cx="5334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359C3C-F6DC-89F1-C2E6-400CCA8A16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B0DBF2-77D4-A760-CF57-E60E6CB7A501}"/>
              </a:ext>
            </a:extLst>
          </p:cNvPr>
          <p:cNvSpPr txBox="1"/>
          <p:nvPr/>
        </p:nvSpPr>
        <p:spPr>
          <a:xfrm>
            <a:off x="260430" y="329879"/>
            <a:ext cx="12464969" cy="550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Exercises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Folder: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pa-challenge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Task: Create a log in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file-log.xlsx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every time a workbook is uploaded to incoming-files folder</a:t>
            </a:r>
          </a:p>
          <a:p>
            <a:pPr marL="1171575" lvl="1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Trigger: When a file is created (properties only)</a:t>
            </a:r>
          </a:p>
          <a:p>
            <a:pPr marL="1171575" lvl="1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conditional logic for file type</a:t>
            </a:r>
          </a:p>
          <a:p>
            <a:pPr marL="1171575" lvl="1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Consider using Power </a:t>
            </a:r>
            <a:r>
              <a:rPr lang="en-US" sz="3600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Fx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to format upload date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469289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Advanced Flow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491588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200E3-03FF-C33B-37A3-157DBBE5A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F9AABC-14AB-F52B-9781-1CFAB616CFD1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962416-2C62-6592-096F-3F56A39891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856ACB-80E4-14D1-6F51-6DD5B1BFA4EB}"/>
              </a:ext>
            </a:extLst>
          </p:cNvPr>
          <p:cNvSpPr txBox="1"/>
          <p:nvPr/>
        </p:nvSpPr>
        <p:spPr>
          <a:xfrm>
            <a:off x="260431" y="329879"/>
            <a:ext cx="8906720" cy="7430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Creating an expense approval process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Create and track expense approval process using Forms, Excel and Power Automate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expense-approval.xlsx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F3338"/>
                </a:solidFill>
                <a:latin typeface="Pragmatica" panose="020B0403040502020204"/>
                <a:sym typeface="Consolas"/>
              </a:rPr>
              <a:t>Resource: https://stringfestanalytics.com/power-automate-for-excel-how-to-create-an-approval-process-with-microsoft-forms/</a:t>
            </a:r>
          </a:p>
        </p:txBody>
      </p:sp>
    </p:spTree>
    <p:extLst>
      <p:ext uri="{BB962C8B-B14F-4D97-AF65-F5344CB8AC3E}">
        <p14:creationId xmlns:p14="http://schemas.microsoft.com/office/powerpoint/2010/main" val="2378610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0421F-C5E1-ADD5-ECE4-6375F4060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DC417D-3C2B-9646-8064-7207B5E8C158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E6A925-96D6-30E2-A5B5-35BD6D37A7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39674B-DCCF-96D6-E9FB-01B7CBAB50AF}"/>
              </a:ext>
            </a:extLst>
          </p:cNvPr>
          <p:cNvSpPr txBox="1"/>
          <p:nvPr/>
        </p:nvSpPr>
        <p:spPr>
          <a:xfrm>
            <a:off x="260431" y="329879"/>
            <a:ext cx="8906720" cy="8846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Retrieving data from external sources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How can we check and collect data from outside sources, e.g. RSS feeds?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Power Automate vs Power Query for data collection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Fils: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get-rss.xlsx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,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bbc-rss.txt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F3338"/>
                </a:solidFill>
                <a:latin typeface="Pragmatica" panose="020B0403040502020204"/>
                <a:sym typeface="Consolas"/>
              </a:rPr>
              <a:t>Resource: https://stringfestanalytics.com/power-automate-for-excel-how-to-work-with-rss-feeds/</a:t>
            </a:r>
          </a:p>
        </p:txBody>
      </p:sp>
    </p:spTree>
    <p:extLst>
      <p:ext uri="{BB962C8B-B14F-4D97-AF65-F5344CB8AC3E}">
        <p14:creationId xmlns:p14="http://schemas.microsoft.com/office/powerpoint/2010/main" val="1242259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99860-2957-C1D7-6CB0-C24ADF9A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173427-48A7-8207-E396-20C6F2E927BC}"/>
              </a:ext>
            </a:extLst>
          </p:cNvPr>
          <p:cNvSpPr/>
          <p:nvPr/>
        </p:nvSpPr>
        <p:spPr>
          <a:xfrm>
            <a:off x="13944600" y="0"/>
            <a:ext cx="43434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72F9CE-C03B-D3BB-0DEA-A384AB64D3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6284FF-EB9F-6FD6-AE52-491CE524A986}"/>
              </a:ext>
            </a:extLst>
          </p:cNvPr>
          <p:cNvSpPr txBox="1"/>
          <p:nvPr/>
        </p:nvSpPr>
        <p:spPr>
          <a:xfrm>
            <a:off x="260430" y="329879"/>
            <a:ext cx="12998369" cy="8700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Exercises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Create a customer feedback review process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Start with: “When a new response is submitted &gt; Get response details”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Add a conditional operation: if the "Overall Experience" score is 4 stars and up, email the recipient thanking them for their business. If it's less, email the recipient apologizing and also send an email notification to a manager.</a:t>
            </a:r>
          </a:p>
          <a:p>
            <a:pPr marL="1171575" lvl="1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Power Automate to convert feedback score to text with INT() function</a:t>
            </a:r>
          </a:p>
          <a:p>
            <a:pPr marL="714375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Feel free to use Copilot for help!</a:t>
            </a:r>
            <a:endParaRPr lang="en-US" sz="3600" dirty="0">
              <a:solidFill>
                <a:srgbClr val="CF3338"/>
              </a:solidFill>
              <a:latin typeface="Pragmatica" panose="020B0403040502020204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086825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625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5AF58-B539-6405-F9EB-60E684D8A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D374C8-2CA1-DD4E-76DB-9BFBAD860E8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81570-7206-4F33-711D-F5ED9CE73123}"/>
              </a:ext>
            </a:extLst>
          </p:cNvPr>
          <p:cNvSpPr txBox="1"/>
          <p:nvPr/>
        </p:nvSpPr>
        <p:spPr>
          <a:xfrm>
            <a:off x="781292" y="590309"/>
            <a:ext cx="154869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Building interactive dashboards with Power BI</a:t>
            </a:r>
          </a:p>
        </p:txBody>
      </p:sp>
    </p:spTree>
    <p:extLst>
      <p:ext uri="{BB962C8B-B14F-4D97-AF65-F5344CB8AC3E}">
        <p14:creationId xmlns:p14="http://schemas.microsoft.com/office/powerpoint/2010/main" val="1937802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6306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Loading, profiling and transforming data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r>
              <a:rPr lang="en-US" sz="4200" dirty="0">
                <a:solidFill>
                  <a:srgbClr val="CF3338"/>
                </a:solidFill>
                <a:latin typeface="Pragmatica" panose="020B0403040502020204" pitchFamily="34" charset="0"/>
              </a:rPr>
              <a:t>Using Power Query in Power BI: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Read in workbook data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Profile, explore and transform the data via 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endParaRPr lang="en-US" sz="3600" dirty="0">
              <a:solidFill>
                <a:srgbClr val="C00000"/>
              </a:solidFill>
              <a:latin typeface="Pragmatica" panose="020B0403040502020204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Folder: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1-load-worksheet-to-power-bi</a:t>
            </a:r>
          </a:p>
        </p:txBody>
      </p:sp>
    </p:spTree>
    <p:extLst>
      <p:ext uri="{BB962C8B-B14F-4D97-AF65-F5344CB8AC3E}">
        <p14:creationId xmlns:p14="http://schemas.microsoft.com/office/powerpoint/2010/main" val="3585680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71254-7D70-0AD5-8345-3A503A3DF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5D80F1-9995-A85D-5874-3DFF757AD9C4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78E631-F0B4-0B54-F4C0-AA7525DE6A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F503D0-7644-10B8-0502-3703F23BEE6F}"/>
              </a:ext>
            </a:extLst>
          </p:cNvPr>
          <p:cNvSpPr txBox="1"/>
          <p:nvPr/>
        </p:nvSpPr>
        <p:spPr>
          <a:xfrm>
            <a:off x="260431" y="329879"/>
            <a:ext cx="8906720" cy="7709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Load Excel data model to Power BI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Port a Power Pivot data model into Power BI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Strengths, weaknesses, limitations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endParaRPr lang="en-US" sz="3600" dirty="0">
              <a:solidFill>
                <a:srgbClr val="C00000"/>
              </a:solidFill>
              <a:latin typeface="Pragmatica" panose="020B0403040502020204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Folder: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2-load-data-model-to-power-bi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322075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781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Creating interactive dashboards and reports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00000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Continue with </a:t>
            </a:r>
            <a:r>
              <a:rPr lang="en-US" sz="3200" kern="100" dirty="0">
                <a:solidFill>
                  <a:srgbClr val="C00000"/>
                </a:solidFill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penguins dataset</a:t>
            </a:r>
            <a:endParaRPr lang="en-US" sz="3200" kern="100" dirty="0">
              <a:solidFill>
                <a:srgbClr val="C00000"/>
              </a:solidFill>
              <a:effectLst/>
              <a:latin typeface="Pragmatica" panose="020B04030405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00000"/>
                </a:solidFill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Creating interactive reports with Power BI</a:t>
            </a:r>
          </a:p>
          <a:p>
            <a:pPr marL="914400" lvl="1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3200" kern="100" dirty="0">
                <a:solidFill>
                  <a:srgbClr val="C00000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Slice</a:t>
            </a:r>
            <a:r>
              <a:rPr lang="en-US" sz="3200" kern="100" dirty="0">
                <a:solidFill>
                  <a:srgbClr val="C00000"/>
                </a:solidFill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rs/Timelines</a:t>
            </a:r>
          </a:p>
          <a:p>
            <a:pPr marL="914400" lvl="1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3200" kern="100" dirty="0">
                <a:solidFill>
                  <a:srgbClr val="C00000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Cross filter functionality</a:t>
            </a:r>
          </a:p>
          <a:p>
            <a:pPr marL="914400" lvl="1" indent="-4572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3200" kern="100" dirty="0">
                <a:solidFill>
                  <a:srgbClr val="C00000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Additional plot functionality vs Excel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r>
              <a:rPr lang="en-US" sz="3600" kern="100" dirty="0">
                <a:solidFill>
                  <a:srgbClr val="C00000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Folder: </a:t>
            </a:r>
            <a:r>
              <a:rPr lang="en-US" sz="3600" kern="1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3-creating-interactive-visuals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567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9DE51-3698-19A7-2410-9FF95955B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7311E4-483B-E0EC-2A09-57DA32632608}"/>
              </a:ext>
            </a:extLst>
          </p:cNvPr>
          <p:cNvSpPr/>
          <p:nvPr/>
        </p:nvSpPr>
        <p:spPr>
          <a:xfrm>
            <a:off x="14249400" y="0"/>
            <a:ext cx="40386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25E978-5853-7382-33B7-E92E58A94E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1D6570-8423-6016-5997-5C5C44F51FC3}"/>
              </a:ext>
            </a:extLst>
          </p:cNvPr>
          <p:cNvSpPr txBox="1"/>
          <p:nvPr/>
        </p:nvSpPr>
        <p:spPr>
          <a:xfrm>
            <a:off x="260430" y="329879"/>
            <a:ext cx="13150769" cy="706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Exercises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r>
              <a:rPr lang="en-US" sz="3600" dirty="0">
                <a:solidFill>
                  <a:srgbClr val="CF3338"/>
                </a:solidFill>
                <a:latin typeface="Pragmatica" panose="020B0403040502020204" pitchFamily="34" charset="0"/>
              </a:rPr>
              <a:t>For all data since 1970: 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00000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Create stolen base percentage measure: SUM(SB) / (SUM(SB) + SUM(SC))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00000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Compare SBP over time by league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00000"/>
                </a:solidFill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Compare relationship between runs (R) and wins (W)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00000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Add a timeline-based slicer to the report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r>
              <a:rPr lang="en-US" sz="3600" kern="100" dirty="0">
                <a:solidFill>
                  <a:srgbClr val="C00000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Folder: </a:t>
            </a:r>
            <a:r>
              <a:rPr lang="en-US" sz="3600" kern="100" dirty="0">
                <a:solidFill>
                  <a:srgbClr val="C00000"/>
                </a:solidFill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4</a:t>
            </a:r>
            <a:r>
              <a:rPr lang="en-US" sz="3600" kern="1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-power-bi-challenge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08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738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10DC-5945-F67F-552F-6B4AD3725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7494E-F506-3611-8E16-B310FC07AE4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115EA-44DB-AAF3-936A-1719A3969B08}"/>
              </a:ext>
            </a:extLst>
          </p:cNvPr>
          <p:cNvSpPr txBox="1"/>
          <p:nvPr/>
        </p:nvSpPr>
        <p:spPr>
          <a:xfrm>
            <a:off x="781292" y="590309"/>
            <a:ext cx="154869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Designing simple business apps with Power Apps</a:t>
            </a:r>
          </a:p>
        </p:txBody>
      </p:sp>
    </p:spTree>
    <p:extLst>
      <p:ext uri="{BB962C8B-B14F-4D97-AF65-F5344CB8AC3E}">
        <p14:creationId xmlns:p14="http://schemas.microsoft.com/office/powerpoint/2010/main" val="1640392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643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Creating a Power App from Excel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Upload Excel table to Power Apps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Create basic three-screen app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Add and edit records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Preview app in development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first-power-app.xlsx</a:t>
            </a:r>
          </a:p>
        </p:txBody>
      </p:sp>
    </p:spTree>
    <p:extLst>
      <p:ext uri="{BB962C8B-B14F-4D97-AF65-F5344CB8AC3E}">
        <p14:creationId xmlns:p14="http://schemas.microsoft.com/office/powerpoint/2010/main" val="3582154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5186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Modifying your Power App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r>
              <a:rPr lang="en-US" sz="4200" dirty="0">
                <a:solidFill>
                  <a:srgbClr val="CF3338"/>
                </a:solidFill>
                <a:latin typeface="Pragmatica" panose="020B0403040502020204" pitchFamily="34" charset="0"/>
              </a:rPr>
              <a:t>Continuing with our example: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Adding required fields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Creating data validation dropdowns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Creating data validation on date ranges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3200" kern="100" dirty="0">
              <a:solidFill>
                <a:srgbClr val="CF3338"/>
              </a:solidFill>
              <a:effectLst/>
              <a:latin typeface="Pragmatica" panose="020B0403040502020204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175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679BB-E487-A9E3-1278-DBD7FB7F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8E3D40-A823-8428-6682-B724027EAF41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24E154-15C4-0B23-E9C5-29E2DD4973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343823-9545-2632-2777-4994B59C3581}"/>
              </a:ext>
            </a:extLst>
          </p:cNvPr>
          <p:cNvSpPr txBox="1"/>
          <p:nvPr/>
        </p:nvSpPr>
        <p:spPr>
          <a:xfrm>
            <a:off x="260431" y="329879"/>
            <a:ext cx="8906720" cy="4897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Deploying your Power App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r>
              <a:rPr lang="en-US" sz="4200" dirty="0">
                <a:solidFill>
                  <a:srgbClr val="CF3338"/>
                </a:solidFill>
                <a:latin typeface="Pragmatica" panose="020B0403040502020204" pitchFamily="34" charset="0"/>
              </a:rPr>
              <a:t>Continuing with our example:</a:t>
            </a:r>
          </a:p>
          <a:p>
            <a:endParaRPr lang="en-US" sz="60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Preparing Excel workbook for external use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Migrating our app from development to production via ZIP folder</a:t>
            </a:r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0799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0A7D7-7C73-6748-ED7C-823D116B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F099B0-C241-9D8F-6F66-8DF3A6C8C78C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009866-9C2D-166E-C0AF-AFB64B0A7C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D3EED5-4019-81EE-EB75-DDA5FF2D412E}"/>
              </a:ext>
            </a:extLst>
          </p:cNvPr>
          <p:cNvSpPr txBox="1"/>
          <p:nvPr/>
        </p:nvSpPr>
        <p:spPr>
          <a:xfrm>
            <a:off x="260431" y="329879"/>
            <a:ext cx="8906720" cy="4528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Creating a Power App with images</a:t>
            </a:r>
          </a:p>
          <a:p>
            <a:endParaRPr lang="en-US" sz="60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Folder: </a:t>
            </a:r>
            <a:r>
              <a:rPr lang="en-US" sz="3200" kern="100" dirty="0">
                <a:solidFill>
                  <a:srgbClr val="CF3338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power-apps-challenge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latin typeface="Pragmatica" panose="020B0403040502020204"/>
                <a:cs typeface="Times New Roman" panose="02020603050405020304" pitchFamily="18" charset="0"/>
              </a:rPr>
              <a:t>Turn this into an app with photos!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latin typeface="Pragmatica" panose="020B0403040502020204"/>
                <a:cs typeface="Times New Roman" panose="02020603050405020304" pitchFamily="18" charset="0"/>
              </a:rPr>
              <a:t>Use image URLs to populate values</a:t>
            </a:r>
          </a:p>
        </p:txBody>
      </p:sp>
    </p:spTree>
    <p:extLst>
      <p:ext uri="{BB962C8B-B14F-4D97-AF65-F5344CB8AC3E}">
        <p14:creationId xmlns:p14="http://schemas.microsoft.com/office/powerpoint/2010/main" val="2789196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36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6D5DC-EA3C-E22F-A188-808D0DC3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3C7565-6456-54EE-AD54-0EF02726C05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FA60D4-E05C-4B25-8420-DBDA1435F9EF}"/>
              </a:ext>
            </a:extLst>
          </p:cNvPr>
          <p:cNvSpPr txBox="1"/>
          <p:nvPr/>
        </p:nvSpPr>
        <p:spPr>
          <a:xfrm>
            <a:off x="781292" y="590309"/>
            <a:ext cx="154869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Creating chatbots with Copilot Studio</a:t>
            </a:r>
          </a:p>
        </p:txBody>
      </p:sp>
    </p:spTree>
    <p:extLst>
      <p:ext uri="{BB962C8B-B14F-4D97-AF65-F5344CB8AC3E}">
        <p14:creationId xmlns:p14="http://schemas.microsoft.com/office/powerpoint/2010/main" val="34680945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7B6D4-A9E1-18F2-6B90-35C6049A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E0BF99-428F-FCDD-2CFB-DD415B3C63E1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C0E755-7B20-E689-DED8-011B122B9B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C6A793-A02D-6141-B68A-AED83B08EEA7}"/>
              </a:ext>
            </a:extLst>
          </p:cNvPr>
          <p:cNvSpPr txBox="1"/>
          <p:nvPr/>
        </p:nvSpPr>
        <p:spPr>
          <a:xfrm>
            <a:off x="260431" y="329879"/>
            <a:ext cx="8906720" cy="94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Creating an Excel MVP chatbot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Create a custom Copilot agent in Copilot Studio tailored for specific Excel-related use cases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Add and manage trusted knowledge sources (like MVP websites) to ensure high-quality, domain-specific responses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Test and publish the agent with simple topics added 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mvp-knowledge-base-instructions.docx</a:t>
            </a:r>
          </a:p>
        </p:txBody>
      </p:sp>
    </p:spTree>
    <p:extLst>
      <p:ext uri="{BB962C8B-B14F-4D97-AF65-F5344CB8AC3E}">
        <p14:creationId xmlns:p14="http://schemas.microsoft.com/office/powerpoint/2010/main" val="4716171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F16D8-236A-A1EE-2E6B-D238CF621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C073BB-FF1D-1723-0D36-10C4F07885DC}"/>
              </a:ext>
            </a:extLst>
          </p:cNvPr>
          <p:cNvSpPr/>
          <p:nvPr/>
        </p:nvSpPr>
        <p:spPr>
          <a:xfrm>
            <a:off x="13030200" y="0"/>
            <a:ext cx="52578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9A2EA5-2289-3368-4DB5-5B75B0B279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4BEF65-F57B-2F9E-3433-5C9A22961B50}"/>
              </a:ext>
            </a:extLst>
          </p:cNvPr>
          <p:cNvSpPr txBox="1"/>
          <p:nvPr/>
        </p:nvSpPr>
        <p:spPr>
          <a:xfrm>
            <a:off x="260430" y="329879"/>
            <a:ext cx="11855369" cy="8845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Exercise: Create an Excel keyboard shortcut chatbot for Teams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Create a chatbot that helps users find Excel keyboard shortcuts, using only the provided “Excel keyboard shortcuts” cheat sheet as its knowledge base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Edit the “goodbye” topic to replace the default response (“okay, goodbye”) with a more engaging sign-off like “Keep on excelling,” then save and test 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Publish the chatbot and launch it in Microsoft Teams to see it running inside an external app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Folder: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copilot-studio-exercise</a:t>
            </a:r>
          </a:p>
        </p:txBody>
      </p:sp>
    </p:spTree>
    <p:extLst>
      <p:ext uri="{BB962C8B-B14F-4D97-AF65-F5344CB8AC3E}">
        <p14:creationId xmlns:p14="http://schemas.microsoft.com/office/powerpoint/2010/main" val="3626983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F8FFE-158A-9FDC-051A-D88206B6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A854B57-40B5-4E04-E438-9349D85A32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F26F84-9A6D-C7B1-105C-C9F00C2A4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435C5F-0C01-26A6-7F3B-19F80F4301AF}"/>
              </a:ext>
            </a:extLst>
          </p:cNvPr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25274D-8C42-1ECF-607F-63D6238B83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798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1CF9C-FC7D-DEAE-2D87-10577021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CBD8B9-A494-A7F7-0F64-845B951EC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42796" y="4850092"/>
            <a:ext cx="4745204" cy="54358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63943A-3FAF-22B6-228E-4092BA65A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0" y="-3440159"/>
            <a:ext cx="15257208" cy="11189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FCEBB5-9C7D-6182-700C-0428AD2DDE67}"/>
              </a:ext>
            </a:extLst>
          </p:cNvPr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THANK YOU</a:t>
            </a:r>
          </a:p>
        </p:txBody>
      </p:sp>
      <p:sp>
        <p:nvSpPr>
          <p:cNvPr id="2" name="AutoShape 2" descr="Home | Full Stack Modeller">
            <a:extLst>
              <a:ext uri="{FF2B5EF4-FFF2-40B4-BE49-F238E27FC236}">
                <a16:creationId xmlns:a16="http://schemas.microsoft.com/office/drawing/2014/main" id="{16E5F1F1-B220-BEC5-B5EA-499D494291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4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3818</TotalTime>
  <Words>1247</Words>
  <Application>Microsoft Office PowerPoint</Application>
  <PresentationFormat>Custom</PresentationFormat>
  <Paragraphs>252</Paragraphs>
  <Slides>39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Normafixed Tryout</vt:lpstr>
      <vt:lpstr>Pragmatica</vt:lpstr>
      <vt:lpstr>Consolas</vt:lpstr>
      <vt:lpstr>Arial</vt:lpstr>
      <vt:lpstr>Calibri</vt:lpstr>
      <vt:lpstr>Aliens &amp; cows</vt:lpstr>
      <vt:lpstr>Office Theme</vt:lpstr>
      <vt:lpstr>Becoming a Citizen Developer with the Power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excel-statistics-for-business-analytics</dc:title>
  <dc:creator>User</dc:creator>
  <cp:lastModifiedBy>George Mount</cp:lastModifiedBy>
  <cp:revision>232</cp:revision>
  <dcterms:created xsi:type="dcterms:W3CDTF">2006-08-16T00:00:00Z</dcterms:created>
  <dcterms:modified xsi:type="dcterms:W3CDTF">2025-11-11T20:23:57Z</dcterms:modified>
  <dc:identifier>DADurESpNu8</dc:identifier>
</cp:coreProperties>
</file>